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63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63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20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0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20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377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34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34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34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34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34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34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34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91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91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91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91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91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91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49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749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49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749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749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49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06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06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06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06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06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06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06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06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06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06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663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63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63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63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63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63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63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63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63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63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120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20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20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120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120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120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120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20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120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120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120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120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577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77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77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577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77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77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77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577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577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577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577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35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35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35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035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35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35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35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035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035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35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35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92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92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92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92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92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92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92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92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92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92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92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92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949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49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49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49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49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49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49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49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49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49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49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49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406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406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06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863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863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863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863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863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863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863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863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863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863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863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321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321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321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321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321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321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321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321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321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321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21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21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778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778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778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778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778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78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778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778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778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778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371600" y="731520"/>
            <a:ext cx="6400800" cy="3749040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pic>
        <p:nvPicPr>
          <p:cNvPr id="2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005840"/>
            <a:ext cx="731520" cy="731520"/>
          </a:xfrm>
          <a:prstGeom prst="rect">
            <a:avLst/>
          </a:prstGeom>
        </p:spPr>
      </p:pic>
      <p:sp>
        <p:nvSpPr>
          <p:cNvPr id="245" name="Text 242"/>
          <p:cNvSpPr/>
          <p:nvPr/>
        </p:nvSpPr>
        <p:spPr>
          <a:xfrm>
            <a:off x="3383280" y="10058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49E"/>
                </a:solidFill>
              </a:rPr>
              <a:t>×</a:t>
            </a:r>
            <a:endParaRPr lang="en-US" sz="2600" dirty="0"/>
          </a:p>
        </p:txBody>
      </p:sp>
      <p:pic>
        <p:nvPicPr>
          <p:cNvPr id="2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005840"/>
            <a:ext cx="731520" cy="731520"/>
          </a:xfrm>
          <a:prstGeom prst="rect">
            <a:avLst/>
          </a:prstGeom>
        </p:spPr>
      </p:pic>
      <p:sp>
        <p:nvSpPr>
          <p:cNvPr id="247" name="Text 243"/>
          <p:cNvSpPr/>
          <p:nvPr/>
        </p:nvSpPr>
        <p:spPr>
          <a:xfrm>
            <a:off x="1463040" y="18288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Manager Pro</a:t>
            </a:r>
            <a:endParaRPr lang="en-US" sz="4000" dirty="0"/>
          </a:p>
        </p:txBody>
      </p:sp>
      <p:sp>
        <p:nvSpPr>
          <p:cNvPr id="248" name="Text 244"/>
          <p:cNvSpPr/>
          <p:nvPr/>
        </p:nvSpPr>
        <p:spPr>
          <a:xfrm>
            <a:off x="1645920" y="27889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 · Spring Boot + Electron</a:t>
            </a:r>
            <a:endParaRPr lang="en-US" sz="1500" dirty="0"/>
          </a:p>
        </p:txBody>
      </p:sp>
      <p:sp>
        <p:nvSpPr>
          <p:cNvPr id="249" name="Shape 245"/>
          <p:cNvSpPr/>
          <p:nvPr/>
        </p:nvSpPr>
        <p:spPr>
          <a:xfrm>
            <a:off x="1965960" y="342900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6DB33F">
              <a:alpha val="40000"/>
            </a:srgbClr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50" name="Text 246"/>
          <p:cNvSpPr/>
          <p:nvPr/>
        </p:nvSpPr>
        <p:spPr>
          <a:xfrm>
            <a:off x="1965960" y="3429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000" dirty="0"/>
          </a:p>
        </p:txBody>
      </p:sp>
      <p:sp>
        <p:nvSpPr>
          <p:cNvPr id="251" name="Shape 247"/>
          <p:cNvSpPr/>
          <p:nvPr/>
        </p:nvSpPr>
        <p:spPr>
          <a:xfrm>
            <a:off x="3291840" y="342900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2" name="Text 248"/>
          <p:cNvSpPr/>
          <p:nvPr/>
        </p:nvSpPr>
        <p:spPr>
          <a:xfrm>
            <a:off x="3291840" y="3429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53" name="Shape 249"/>
          <p:cNvSpPr/>
          <p:nvPr/>
        </p:nvSpPr>
        <p:spPr>
          <a:xfrm>
            <a:off x="4617720" y="342900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47848F">
              <a:alpha val="40000"/>
            </a:srgbClr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254" name="Text 250"/>
          <p:cNvSpPr/>
          <p:nvPr/>
        </p:nvSpPr>
        <p:spPr>
          <a:xfrm>
            <a:off x="4617720" y="3429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000" dirty="0"/>
          </a:p>
        </p:txBody>
      </p:sp>
      <p:sp>
        <p:nvSpPr>
          <p:cNvPr id="255" name="Shape 251"/>
          <p:cNvSpPr/>
          <p:nvPr/>
        </p:nvSpPr>
        <p:spPr>
          <a:xfrm>
            <a:off x="5943600" y="342900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6" name="Text 252"/>
          <p:cNvSpPr/>
          <p:nvPr/>
        </p:nvSpPr>
        <p:spPr>
          <a:xfrm>
            <a:off x="5943600" y="3429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DB</a:t>
            </a:r>
            <a:endParaRPr lang="en-US" sz="1000" dirty="0"/>
          </a:p>
        </p:txBody>
      </p:sp>
      <p:sp>
        <p:nvSpPr>
          <p:cNvPr id="257" name="Text 253"/>
          <p:cNvSpPr/>
          <p:nvPr/>
        </p:nvSpPr>
        <p:spPr>
          <a:xfrm>
            <a:off x="1645920" y="38862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d'Examen · Gestion de Stock CRUD</a:t>
            </a:r>
            <a:endParaRPr lang="en-US" sz="1000" dirty="0"/>
          </a:p>
        </p:txBody>
      </p:sp>
      <p:sp>
        <p:nvSpPr>
          <p:cNvPr id="258" name="Shape 25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64008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54864" cy="64008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83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54864" cy="64008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603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Spring Boot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54864" cy="64008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375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Electron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1480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1148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114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Client-Serveur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54864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005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1005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CRUD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78308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78308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783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H2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56032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5603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2560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&amp; Avantages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37560"/>
            <a:ext cx="54864" cy="6400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3375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94960" y="3337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Manager 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de bureau complète pour gérer un stock de produits. Elle repose sur une architecture découplée : un backend Java robuste et un frontend desktop moderne.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6DB33F">
              <a:alpha val="80000"/>
            </a:srgbClr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produit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produits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95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35295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produit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599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40599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produit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822960"/>
            <a:ext cx="32918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914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63040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92240" y="1764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REST API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23160"/>
            <a:ext cx="502920" cy="5029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9224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49224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29184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9224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92240" y="35935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Persistance locale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16052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9224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HTTP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492240" y="4462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200400" cy="3749040"/>
          </a:xfrm>
          <a:prstGeom prst="rect">
            <a:avLst/>
          </a:prstGeom>
          <a:solidFill>
            <a:srgbClr val="161B22"/>
          </a:solidFill>
          <a:ln w="25400">
            <a:solidFill>
              <a:srgbClr val="47848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200400" cy="45720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630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Fenêtre Desktop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Fetch API / UI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Interface Premium CSS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25603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6616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94960" y="2450592"/>
            <a:ext cx="2286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868680"/>
            <a:ext cx="3200400" cy="3749040"/>
          </a:xfrm>
          <a:prstGeom prst="rect">
            <a:avLst/>
          </a:prstGeom>
          <a:solidFill>
            <a:srgbClr val="161B22"/>
          </a:solidFill>
          <a:ln w="25400">
            <a:solidFill>
              <a:srgbClr val="6DB3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868680"/>
            <a:ext cx="3200400" cy="4572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868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63040"/>
            <a:ext cx="822960" cy="8229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6072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06440" y="27889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Endpoints REST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Spring Data JPA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Persistance locale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Backend – Spring Boot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64008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56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51560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ProductController.java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749040" y="10515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de l'API. Expose les routes REST et gère les requêtes HTTP entrantes.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4320" y="1920240"/>
            <a:ext cx="64008" cy="86868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1965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5156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ProductRepository.java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749040" y="20574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Spring Data JPA. Opérations CRUD sans SQL manuel grâce à l'abstraction JPA.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2926080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2724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51560" y="3364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Product.java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3749040" y="3063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données. Définit la structure : ID, Nom, Prix, Quantité avec annotations JPA.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931920"/>
            <a:ext cx="64008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3308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051560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jdbc:h2:file:./data/examen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749040" y="40690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SQL embarquée. Console accessible sur /h2-console. Idéal pour démo.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Frontend – Electron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68680"/>
            <a:ext cx="283464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47848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868680"/>
            <a:ext cx="2834640" cy="54864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972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004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2514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principal Electron. Crée la fenêtre native du système d'exploitation et gère le cycle de vie de l'application.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93192" y="3547872"/>
            <a:ext cx="91440" cy="91440"/>
          </a:xfrm>
          <a:prstGeom prst="ellipse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" y="3493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BrowserWindow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93192" y="3886200"/>
            <a:ext cx="91440" cy="91440"/>
          </a:xfrm>
          <a:prstGeom prst="ellipse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9496" y="3831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events système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" y="4224528"/>
            <a:ext cx="91440" cy="91440"/>
          </a:xfrm>
          <a:prstGeom prst="ellipse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9496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npm start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00400" y="868680"/>
            <a:ext cx="283464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868680"/>
            <a:ext cx="283464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918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29184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337560" y="2514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visuelle premium. Design Dark Theme avec gradients CSS, animations et mise en page Flexbox.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364992" y="354787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511296" y="3493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Premium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364992" y="3886200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511296" y="3831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CRUD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364992" y="4224528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11296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produits paginée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172200" y="868680"/>
            <a:ext cx="283464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172200" y="86868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097280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636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renderer.js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26364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Process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309360" y="2514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JavaScript côté UI. Utilise la Fetch API pour communiquer avec le backend et mettre à jour le DOM en temps réel.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336792" y="35478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483096" y="3493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→ Spring Boot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336792" y="3886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83096" y="3831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en temps réel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336792" y="42245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483096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dynamique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Communication Client-Serveur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47848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24712"/>
            <a:ext cx="438912" cy="438912"/>
          </a:xfrm>
          <a:prstGeom prst="ellipse">
            <a:avLst/>
          </a:prstGeom>
          <a:solidFill>
            <a:srgbClr val="47848F">
              <a:alpha val="80000"/>
            </a:srgbClr>
          </a:solidFill>
          <a:ln w="25400">
            <a:solidFill>
              <a:srgbClr val="4784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24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34416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clique sur « Ajouter 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664208"/>
            <a:ext cx="54864" cy="1371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01368"/>
            <a:ext cx="7680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920240"/>
            <a:ext cx="438912" cy="438912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13969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renderer.js envoie POST /api/products avec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2459736"/>
            <a:ext cx="54864" cy="1371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596896"/>
            <a:ext cx="7680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715768"/>
            <a:ext cx="438912" cy="438912"/>
          </a:xfrm>
          <a:prstGeom prst="ellipse">
            <a:avLst/>
          </a:prstGeom>
          <a:solidFill>
            <a:srgbClr val="6DB33F">
              <a:alpha val="80000"/>
            </a:srgbClr>
          </a:solidFill>
          <a:ln w="25400">
            <a:solidFill>
              <a:srgbClr val="6DB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642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935224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reçoit, valide et sauvegarde en H2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3255264"/>
            <a:ext cx="54864" cy="1371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392424"/>
            <a:ext cx="7680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511296"/>
            <a:ext cx="438912" cy="438912"/>
          </a:xfrm>
          <a:prstGeom prst="ellipse">
            <a:avLst/>
          </a:prstGeom>
          <a:solidFill>
            <a:srgbClr val="60A5FA">
              <a:alpha val="80000"/>
            </a:srgbClr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11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73075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+ objet JSON retourné au frontend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4050792"/>
            <a:ext cx="54864" cy="1371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187952"/>
            <a:ext cx="7680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306824"/>
            <a:ext cx="438912" cy="438912"/>
          </a:xfrm>
          <a:prstGeom prst="ellipse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306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Update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52628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se rafraîchit avec le nouveau produit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Fonctionnalités CRUD &amp;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69848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43560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la liste de tous les produits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859536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21408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214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048256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41401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 nouveau produit (JSON body)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859536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99816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451A0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998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026664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3924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 un produit existant par son 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859536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078224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7822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05072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37083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un produit existant par son ID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Base de Données H2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772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25603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5603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788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Installation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serveur SQL externe requis. H2 est embarqué dans le JAR Spring Boot.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25603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2560320"/>
            <a:ext cx="27432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7889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28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H2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2900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de gestion sur http://localhost:8080/h2-console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17920" y="25603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25603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889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5508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JDBC : jdbc:h2:file:./data/examen – données sauvegardées sur disque.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Points Clés &amp; Avantages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519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7848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23444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527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418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34416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frontend et le backend sont totalement indépendants. On peut remplacer l'un sans toucher à l'autre (ex: application mobile).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868680"/>
            <a:ext cx="42519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868680"/>
            <a:ext cx="54864" cy="12344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527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9418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Spring Boot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34416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Java éprouvé avec injection de dépendances, validation automatique et gestion des erreurs intégrée.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286000"/>
            <a:ext cx="42519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7848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286000"/>
            <a:ext cx="54864" cy="123444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700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3591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d'Electron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7614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API natives du système d'exploitation avec la flexibilité du développement web moderne.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286000"/>
            <a:ext cx="42519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28600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700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3591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– Zéro Configuration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27614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 embarquée parfaite pour les démos et les examens. Aucune installation nécessaire.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3703320"/>
            <a:ext cx="42519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70332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8736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7764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Sécurité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41788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et quantités négatifs bloqués. CORS configuré pour sécuriser les échanges entre les processus.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09160" y="3703320"/>
            <a:ext cx="42519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70332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87368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7764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Extensibilité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40680" y="41788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prête pour l'ajout de nouvelles fonctionnalités : auth, catégories, exports PDF…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63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63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63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0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20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0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20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20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377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77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34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34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34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34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34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34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834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91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91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91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91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91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91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91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49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749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49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749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749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49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749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06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06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06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06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06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06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06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06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06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06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206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63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63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63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63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63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63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63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63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63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63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63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20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20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120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120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120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120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20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120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120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120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120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120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77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77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577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77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77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77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77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577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577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577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577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35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35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035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35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35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35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035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035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35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35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35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92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92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92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92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92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92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92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92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92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92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92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92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494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494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494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494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494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494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494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494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494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494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494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494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4066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066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8638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8638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8638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8638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8638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8638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8638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8638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8638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8638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8638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3210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3210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3210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3210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3210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3210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3210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3210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3210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210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210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210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778240" y="182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778240" y="640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778240" y="1097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778240" y="1554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78240" y="2011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778240" y="2926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778240" y="33832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778240" y="38404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778240" y="42976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47548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5212080"/>
            <a:ext cx="27432" cy="27432"/>
          </a:xfrm>
          <a:prstGeom prst="ellipse">
            <a:avLst/>
          </a:prstGeom>
          <a:solidFill>
            <a:srgbClr val="30363D">
              <a:alpha val="60000"/>
            </a:srgbClr>
          </a:solidFill>
          <a:ln w="12700">
            <a:solidFill>
              <a:srgbClr val="30363D">
                <a:alpha val="6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31520" y="457200"/>
            <a:ext cx="7680960" cy="4206240"/>
          </a:xfrm>
          <a:prstGeom prst="rect">
            <a:avLst/>
          </a:prstGeom>
          <a:solidFill>
            <a:srgbClr val="161B22">
              <a:alpha val="90000"/>
            </a:srgbClr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5" name="Text 243"/>
          <p:cNvSpPr/>
          <p:nvPr/>
        </p:nvSpPr>
        <p:spPr>
          <a:xfrm>
            <a:off x="91440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4800" dirty="0"/>
          </a:p>
        </p:txBody>
      </p:sp>
      <p:pic>
        <p:nvPicPr>
          <p:cNvPr id="2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645920"/>
            <a:ext cx="731520" cy="731520"/>
          </a:xfrm>
          <a:prstGeom prst="rect">
            <a:avLst/>
          </a:prstGeom>
        </p:spPr>
      </p:pic>
      <p:sp>
        <p:nvSpPr>
          <p:cNvPr id="247" name="Text 244"/>
          <p:cNvSpPr/>
          <p:nvPr/>
        </p:nvSpPr>
        <p:spPr>
          <a:xfrm>
            <a:off x="402336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949E"/>
                </a:solidFill>
              </a:rPr>
              <a:t>×</a:t>
            </a:r>
            <a:endParaRPr lang="en-US" sz="2400" dirty="0"/>
          </a:p>
        </p:txBody>
      </p:sp>
      <p:pic>
        <p:nvPicPr>
          <p:cNvPr id="2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45920"/>
            <a:ext cx="731520" cy="731520"/>
          </a:xfrm>
          <a:prstGeom prst="rect">
            <a:avLst/>
          </a:prstGeom>
        </p:spPr>
      </p:pic>
      <p:sp>
        <p:nvSpPr>
          <p:cNvPr id="249" name="Text 245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Manager Pro</a:t>
            </a:r>
            <a:endParaRPr lang="en-US" sz="2000" dirty="0"/>
          </a:p>
        </p:txBody>
      </p:sp>
      <p:sp>
        <p:nvSpPr>
          <p:cNvPr id="250" name="Shape 246"/>
          <p:cNvSpPr/>
          <p:nvPr/>
        </p:nvSpPr>
        <p:spPr>
          <a:xfrm>
            <a:off x="1280160" y="30632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6DB33F">
              <a:alpha val="30000"/>
            </a:srgbClr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51" name="Text 247"/>
          <p:cNvSpPr/>
          <p:nvPr/>
        </p:nvSpPr>
        <p:spPr>
          <a:xfrm>
            <a:off x="128016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</a:t>
            </a:r>
            <a:endParaRPr lang="en-US" sz="900" dirty="0"/>
          </a:p>
        </p:txBody>
      </p:sp>
      <p:sp>
        <p:nvSpPr>
          <p:cNvPr id="252" name="Shape 248"/>
          <p:cNvSpPr/>
          <p:nvPr/>
        </p:nvSpPr>
        <p:spPr>
          <a:xfrm>
            <a:off x="2971800" y="30632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60A5FA">
              <a:alpha val="3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3" name="Text 249"/>
          <p:cNvSpPr/>
          <p:nvPr/>
        </p:nvSpPr>
        <p:spPr>
          <a:xfrm>
            <a:off x="297180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robuste</a:t>
            </a:r>
            <a:endParaRPr lang="en-US" sz="900" dirty="0"/>
          </a:p>
        </p:txBody>
      </p:sp>
      <p:sp>
        <p:nvSpPr>
          <p:cNvPr id="254" name="Shape 250"/>
          <p:cNvSpPr/>
          <p:nvPr/>
        </p:nvSpPr>
        <p:spPr>
          <a:xfrm>
            <a:off x="4663440" y="30632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47848F">
              <a:alpha val="30000"/>
            </a:srgbClr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255" name="Text 251"/>
          <p:cNvSpPr/>
          <p:nvPr/>
        </p:nvSpPr>
        <p:spPr>
          <a:xfrm>
            <a:off x="46634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Desktop Premium</a:t>
            </a:r>
            <a:endParaRPr lang="en-US" sz="900" dirty="0"/>
          </a:p>
        </p:txBody>
      </p:sp>
      <p:sp>
        <p:nvSpPr>
          <p:cNvPr id="256" name="Shape 252"/>
          <p:cNvSpPr/>
          <p:nvPr/>
        </p:nvSpPr>
        <p:spPr>
          <a:xfrm>
            <a:off x="6355080" y="30632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7" name="Text 253"/>
          <p:cNvSpPr/>
          <p:nvPr/>
        </p:nvSpPr>
        <p:spPr>
          <a:xfrm>
            <a:off x="635508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la démo</a:t>
            </a:r>
            <a:endParaRPr lang="en-US" sz="900" dirty="0"/>
          </a:p>
        </p:txBody>
      </p:sp>
      <p:sp>
        <p:nvSpPr>
          <p:cNvPr id="258" name="Text 254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2026-05-05T23:47:06Z</dcterms:created>
  <dcterms:modified xsi:type="dcterms:W3CDTF">2026-05-05T23:47:06Z</dcterms:modified>
</cp:coreProperties>
</file>