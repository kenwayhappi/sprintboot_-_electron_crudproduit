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DB33F"/>
          </a:solidFill>
          <a:ln w="12700">
            <a:solidFill>
              <a:srgbClr val="6DB3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6DB33F"/>
          </a:solidFill>
          <a:ln w="12700">
            <a:solidFill>
              <a:srgbClr val="6DB33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822960"/>
            <a:ext cx="1371600" cy="13716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822960"/>
            <a:ext cx="1371600" cy="1371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423160" y="914400"/>
            <a:ext cx="548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+</a:t>
            </a:r>
            <a:endParaRPr lang="en-US" sz="4400" dirty="0"/>
          </a:p>
        </p:txBody>
      </p:sp>
      <p:sp>
        <p:nvSpPr>
          <p:cNvPr id="7" name="Text 3"/>
          <p:cNvSpPr/>
          <p:nvPr/>
        </p:nvSpPr>
        <p:spPr>
          <a:xfrm>
            <a:off x="457200" y="2377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Manager Pro</a:t>
            </a:r>
            <a:endParaRPr lang="en-US" sz="4200" dirty="0"/>
          </a:p>
        </p:txBody>
      </p:sp>
      <p:sp>
        <p:nvSpPr>
          <p:cNvPr id="8" name="Text 4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× Electron – Architecture Découplée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1371600" y="3886200"/>
            <a:ext cx="1280160" cy="365760"/>
          </a:xfrm>
          <a:prstGeom prst="roundRect">
            <a:avLst>
              <a:gd name="adj" fmla="val 12500"/>
            </a:avLst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371600" y="38862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2743200" y="3886200"/>
            <a:ext cx="1280160" cy="365760"/>
          </a:xfrm>
          <a:prstGeom prst="roundRect">
            <a:avLst>
              <a:gd name="adj" fmla="val 12500"/>
            </a:avLst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743200" y="38862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480560" y="3886200"/>
            <a:ext cx="1280160" cy="365760"/>
          </a:xfrm>
          <a:prstGeom prst="roundRect">
            <a:avLst>
              <a:gd name="adj" fmla="val 12500"/>
            </a:avLst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480560" y="38862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852160" y="3886200"/>
            <a:ext cx="1280160" cy="365760"/>
          </a:xfrm>
          <a:prstGeom prst="roundRect">
            <a:avLst>
              <a:gd name="adj" fmla="val 12500"/>
            </a:avLst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852160" y="38862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Database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Examen – Architecture Logicielle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DB33F"/>
          </a:solidFill>
          <a:ln w="12700">
            <a:solidFill>
              <a:srgbClr val="6DB3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Objectif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1280160"/>
          </a:xfrm>
          <a:prstGeom prst="rect">
            <a:avLst/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une application de bureau complète pour la gestion de stock,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utilisant une architecture découplée : un backend robuste et un frontend moderne.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2331720"/>
            <a:ext cx="2651760" cy="2560320"/>
          </a:xfrm>
          <a:prstGeom prst="rect">
            <a:avLst/>
          </a:prstGeom>
          <a:solidFill>
            <a:srgbClr val="21262D"/>
          </a:solidFill>
          <a:ln w="19050">
            <a:solidFill>
              <a:srgbClr val="6DB33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2331720"/>
            <a:ext cx="2651760" cy="73152"/>
          </a:xfrm>
          <a:prstGeom prst="rect">
            <a:avLst/>
          </a:prstGeom>
          <a:solidFill>
            <a:srgbClr val="6DB33F"/>
          </a:solidFill>
          <a:ln w="12700">
            <a:solidFill>
              <a:srgbClr val="6DB33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2514600"/>
            <a:ext cx="640080" cy="640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74320" y="32461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65760" y="365760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gère la logique métier et expose une API REST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154680" y="2331720"/>
            <a:ext cx="2651760" cy="2560320"/>
          </a:xfrm>
          <a:prstGeom prst="rect">
            <a:avLst/>
          </a:prstGeom>
          <a:solidFill>
            <a:srgbClr val="21262D"/>
          </a:solidFill>
          <a:ln w="19050">
            <a:solidFill>
              <a:srgbClr val="47848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154680" y="2331720"/>
            <a:ext cx="2651760" cy="73152"/>
          </a:xfrm>
          <a:prstGeom prst="rect">
            <a:avLst/>
          </a:prstGeom>
          <a:solidFill>
            <a:srgbClr val="47848F"/>
          </a:solidFill>
          <a:ln w="12700">
            <a:solidFill>
              <a:srgbClr val="47848F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2514600"/>
            <a:ext cx="640080" cy="6400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154680" y="32461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246120" y="365760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 fournit une interface desktop native et moderne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035040" y="2331720"/>
            <a:ext cx="2651760" cy="2560320"/>
          </a:xfrm>
          <a:prstGeom prst="rect">
            <a:avLst/>
          </a:prstGeom>
          <a:solidFill>
            <a:srgbClr val="21262D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035040" y="2331720"/>
            <a:ext cx="2651760" cy="7315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2514600"/>
            <a:ext cx="640080" cy="6400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035040" y="32461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6126480" y="365760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Database embarquée, sans installation externe requise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7848F"/>
          </a:solidFill>
          <a:ln w="12700">
            <a:solidFill>
              <a:srgbClr val="4784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Globale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926080" cy="3931920"/>
          </a:xfrm>
          <a:prstGeom prst="rect">
            <a:avLst/>
          </a:prstGeom>
          <a:solidFill>
            <a:srgbClr val="21262D"/>
          </a:solidFill>
          <a:ln w="25400">
            <a:solidFill>
              <a:srgbClr val="47848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2926080" cy="457200"/>
          </a:xfrm>
          <a:prstGeom prst="rect">
            <a:avLst/>
          </a:prstGeom>
          <a:solidFill>
            <a:srgbClr val="47848F"/>
          </a:solidFill>
          <a:ln w="12700">
            <a:solidFill>
              <a:srgbClr val="4784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229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371600"/>
            <a:ext cx="1280160" cy="12801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2651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2971800"/>
            <a:ext cx="2651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main.js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renderer.js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API → HTTP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37560" y="2331720"/>
            <a:ext cx="2468880" cy="73152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806440" y="2240280"/>
            <a:ext cx="0" cy="256032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37560" y="20574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/ HTTP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577840" y="21945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5577840" y="251460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3337560" y="25146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943600" y="822960"/>
            <a:ext cx="2926080" cy="3931920"/>
          </a:xfrm>
          <a:prstGeom prst="rect">
            <a:avLst/>
          </a:prstGeom>
          <a:solidFill>
            <a:srgbClr val="21262D"/>
          </a:solidFill>
          <a:ln w="25400">
            <a:solidFill>
              <a:srgbClr val="6DB33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943600" y="822960"/>
            <a:ext cx="2926080" cy="457200"/>
          </a:xfrm>
          <a:prstGeom prst="rect">
            <a:avLst/>
          </a:prstGeom>
          <a:solidFill>
            <a:srgbClr val="6DB33F"/>
          </a:solidFill>
          <a:ln w="12700">
            <a:solidFill>
              <a:srgbClr val="6DB33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43600" y="8229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371600"/>
            <a:ext cx="1280160" cy="128016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035040" y="2651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6126480" y="2971800"/>
            <a:ext cx="2651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ProductController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ProductRepository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Product.java (Entity)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Database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DB33F"/>
          </a:solidFill>
          <a:ln w="12700">
            <a:solidFill>
              <a:srgbClr val="6DB33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64592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– Spring Boot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274320" y="868680"/>
            <a:ext cx="4023360" cy="1920240"/>
          </a:xfrm>
          <a:prstGeom prst="rect">
            <a:avLst/>
          </a:prstGeom>
          <a:solidFill>
            <a:srgbClr val="21262D"/>
          </a:solidFill>
          <a:ln w="19050">
            <a:solidFill>
              <a:srgbClr val="6DB33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4320" y="868680"/>
            <a:ext cx="73152" cy="1920240"/>
          </a:xfrm>
          <a:prstGeom prst="rect">
            <a:avLst/>
          </a:prstGeom>
          <a:solidFill>
            <a:srgbClr val="6DB33F"/>
          </a:solidFill>
          <a:ln w="12700">
            <a:solidFill>
              <a:srgbClr val="6DB33F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02920" cy="5029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51560" y="10058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Product.java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051560" y="13716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Entité JPA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457200" y="173736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Définit la structure : ID, Nom, Prix, Quantité. Mappé automatiquement en table SQL.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572000" y="868680"/>
            <a:ext cx="4023360" cy="1920240"/>
          </a:xfrm>
          <a:prstGeom prst="rect">
            <a:avLst/>
          </a:prstGeom>
          <a:solidFill>
            <a:srgbClr val="21262D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72000" y="868680"/>
            <a:ext cx="73152" cy="192024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09728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349240" y="10058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ProductRepository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349240" y="13716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4754880" y="173736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qui génère les requêtes SQL automatiquement (findAll, save, deleteById…).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274320" y="2926080"/>
            <a:ext cx="4023360" cy="1920240"/>
          </a:xfrm>
          <a:prstGeom prst="rect">
            <a:avLst/>
          </a:prstGeom>
          <a:solidFill>
            <a:srgbClr val="21262D"/>
          </a:solidFill>
          <a:ln w="19050">
            <a:solidFill>
              <a:srgbClr val="00C4B4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274320" y="2926080"/>
            <a:ext cx="73152" cy="1920240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154680"/>
            <a:ext cx="502920" cy="5029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51560" y="30632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ProductController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1051560" y="34290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457200" y="379476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les endpoints GET, POST, PUT, DELETE sur /api/products.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4572000" y="2926080"/>
            <a:ext cx="4023360" cy="1920240"/>
          </a:xfrm>
          <a:prstGeom prst="rect">
            <a:avLst/>
          </a:prstGeom>
          <a:solidFill>
            <a:srgbClr val="21262D"/>
          </a:solidFill>
          <a:ln w="19050">
            <a:solidFill>
              <a:srgbClr val="F0883E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572000" y="2926080"/>
            <a:ext cx="73152" cy="192024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3154680"/>
            <a:ext cx="502920" cy="50292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349240" y="30632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@CrossOrigin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5349240" y="34290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CORS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4754880" y="379476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Autorise les requêtes HTTP en provenance de l'application Electron.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7848F"/>
          </a:solidFill>
          <a:ln w="12700">
            <a:solidFill>
              <a:srgbClr val="47848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64592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– Electron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274320" y="868680"/>
            <a:ext cx="3840480" cy="3931920"/>
          </a:xfrm>
          <a:prstGeom prst="rect">
            <a:avLst/>
          </a:prstGeom>
          <a:solidFill>
            <a:srgbClr val="21262D"/>
          </a:solidFill>
          <a:ln w="19050">
            <a:solidFill>
              <a:srgbClr val="47848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914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des Fichiers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11480" y="1417320"/>
            <a:ext cx="3566160" cy="6858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14630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4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main.js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175564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 la fenêtre OS native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11480" y="2221992"/>
            <a:ext cx="3566160" cy="6858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226771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4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25603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utilisateur / DOM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11480" y="3026664"/>
            <a:ext cx="3566160" cy="6858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3072384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4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renderer.js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48640" y="336499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Logique fetch() → API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11480" y="3831336"/>
            <a:ext cx="3566160" cy="6858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" y="3877056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4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package.json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48640" y="416966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npm + dépendances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343400" y="868680"/>
            <a:ext cx="4480560" cy="3931920"/>
          </a:xfrm>
          <a:prstGeom prst="rect">
            <a:avLst/>
          </a:prstGeom>
          <a:solidFill>
            <a:srgbClr val="21262D"/>
          </a:solidFill>
          <a:ln w="19050">
            <a:solidFill>
              <a:srgbClr val="47848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34840" y="91440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Clés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434840" y="1417320"/>
            <a:ext cx="4206240" cy="6858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2000" y="14630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Process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572000" y="175564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Gère le cycle de vie de l'application et la fenêtre native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434840" y="2221992"/>
            <a:ext cx="4206240" cy="6858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72000" y="226771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Renderer Process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4572000" y="25603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CSS affiché dans un moteur Chromium embarqué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434840" y="3026664"/>
            <a:ext cx="4206240" cy="6858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572000" y="307238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API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4572000" y="336499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Appels HTTP asynchrones vers le backend Spring Boot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434840" y="3831336"/>
            <a:ext cx="4206240" cy="6858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72000" y="387705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Premium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4572000" y="416966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Gradients, Glassmorphism, thème sombre moderne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Client-Serveur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96112"/>
            <a:ext cx="548640" cy="548640"/>
          </a:xfrm>
          <a:prstGeom prst="ellipse">
            <a:avLst/>
          </a:prstGeom>
          <a:solidFill>
            <a:srgbClr val="6DB33F"/>
          </a:solidFill>
          <a:ln w="12700">
            <a:solidFill>
              <a:srgbClr val="6DB3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961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21208" y="1463040"/>
            <a:ext cx="54864" cy="256032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804672"/>
            <a:ext cx="7772400" cy="713232"/>
          </a:xfrm>
          <a:prstGeom prst="rect">
            <a:avLst/>
          </a:prstGeom>
          <a:solidFill>
            <a:srgbClr val="21262D"/>
          </a:solidFill>
          <a:ln w="12700">
            <a:solidFill>
              <a:srgbClr val="6DB3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85039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Lancement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1152144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démarre sur le port 8080. Electron ouvre sa fenêtre.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719072"/>
            <a:ext cx="548640" cy="548640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7190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21208" y="2286000"/>
            <a:ext cx="54864" cy="256032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" y="1627632"/>
            <a:ext cx="7772400" cy="713232"/>
          </a:xfrm>
          <a:prstGeom prst="rect">
            <a:avLst/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167335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utilisateur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3000" y="1975104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L'utilisateur clique sur 'Ajouter'. renderer.js construit un objet JSON.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542032"/>
            <a:ext cx="548640" cy="548640"/>
          </a:xfrm>
          <a:prstGeom prst="ellipse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5420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21208" y="3108960"/>
            <a:ext cx="54864" cy="256032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05840" y="2450592"/>
            <a:ext cx="7772400" cy="713232"/>
          </a:xfrm>
          <a:prstGeom prst="rect">
            <a:avLst/>
          </a:prstGeom>
          <a:solidFill>
            <a:srgbClr val="21262D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43000" y="249631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Requête HTTP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43000" y="2798064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fetch('http://localhost:8080/api/products', {method:'POST', body: JSON})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3364992"/>
            <a:ext cx="548640" cy="548640"/>
          </a:xfrm>
          <a:prstGeom prst="ellipse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364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21208" y="3931920"/>
            <a:ext cx="54864" cy="256032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5840" y="3273552"/>
            <a:ext cx="7772400" cy="713232"/>
          </a:xfrm>
          <a:prstGeom prst="rect">
            <a:avLst/>
          </a:prstGeom>
          <a:solidFill>
            <a:srgbClr val="21262D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43000" y="331927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 Java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43000" y="3621024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reçoit le JSON → le mappe sur un objet Product → sauvegarde en H2.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74320" y="4187952"/>
            <a:ext cx="548640" cy="548640"/>
          </a:xfrm>
          <a:prstGeom prst="ellipse">
            <a:avLst/>
          </a:prstGeom>
          <a:solidFill>
            <a:srgbClr val="6DB33F"/>
          </a:solidFill>
          <a:ln w="12700">
            <a:solidFill>
              <a:srgbClr val="6DB33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1879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005840" y="4096512"/>
            <a:ext cx="7772400" cy="713232"/>
          </a:xfrm>
          <a:prstGeom prst="rect">
            <a:avLst/>
          </a:prstGeom>
          <a:solidFill>
            <a:srgbClr val="21262D"/>
          </a:solidFill>
          <a:ln w="12700">
            <a:solidFill>
              <a:srgbClr val="6DB33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43000" y="414223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&amp; Mise à jour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43000" y="4443984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serveur renvoie un code 200. Electron rafraîchit la liste des produits.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 – H2 Embarquée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3931920" cy="4023360"/>
          </a:xfrm>
          <a:prstGeom prst="rect">
            <a:avLst/>
          </a:prstGeom>
          <a:solidFill>
            <a:srgbClr val="21262D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H2 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35661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installation de serveur externe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 persistée localement (fichier ./data/examen)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web intégrée sur /h2-console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100% avec Spring Data JPA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Idéal pour démonstrations et examens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34840" y="822960"/>
            <a:ext cx="4389120" cy="4023360"/>
          </a:xfrm>
          <a:prstGeom prst="rect">
            <a:avLst/>
          </a:prstGeom>
          <a:solidFill>
            <a:srgbClr val="21262D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914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Entité Product – Table SQL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0" y="1371600"/>
            <a:ext cx="4114800" cy="347472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37160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760720" y="137160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49440" y="137160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0" y="1737360"/>
            <a:ext cx="4114800" cy="41148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17373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C4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760720" y="17373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DB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BIGINT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49440" y="17373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 primaire auto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2148840"/>
            <a:ext cx="4114800" cy="411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21488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C4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760720" y="21488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DB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49440" y="21488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du produit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0" y="2560320"/>
            <a:ext cx="4114800" cy="41148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256032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C4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760720" y="256032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DB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49440" y="25603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≥ 0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0" y="2971800"/>
            <a:ext cx="4114800" cy="411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297180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C4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quantity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760720" y="297180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DB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949440" y="29718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≥ 0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0" y="3429000"/>
            <a:ext cx="4114800" cy="11887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3493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Console H2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709160" y="379476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 : http://localhost:8080/h2-console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09160" y="404164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JDBC : jdbc:h2:file:./data/examen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09160" y="428853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: sa  |  Password : (vide)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 – CRUD Complet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011680" cy="4069080"/>
          </a:xfrm>
          <a:prstGeom prst="rect">
            <a:avLst/>
          </a:prstGeom>
          <a:solidFill>
            <a:srgbClr val="21262D"/>
          </a:solidFill>
          <a:ln w="25400">
            <a:solidFill>
              <a:srgbClr val="6DB33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2011680" cy="502920"/>
          </a:xfrm>
          <a:prstGeom prst="rect">
            <a:avLst/>
          </a:prstGeom>
          <a:solidFill>
            <a:srgbClr val="6DB33F"/>
          </a:solidFill>
          <a:ln w="12700">
            <a:solidFill>
              <a:srgbClr val="6DB3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229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1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463040"/>
            <a:ext cx="640080" cy="6400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65760" y="2240280"/>
            <a:ext cx="1828800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22402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B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0040" y="2651760"/>
            <a:ext cx="1920240" cy="3657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0040" y="26517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/api/products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65760" y="3127248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un produit avec nom, prix et quantité. Validation anti-négatif intégrée.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423160" y="822960"/>
            <a:ext cx="2011680" cy="4069080"/>
          </a:xfrm>
          <a:prstGeom prst="rect">
            <a:avLst/>
          </a:prstGeom>
          <a:solidFill>
            <a:srgbClr val="21262D"/>
          </a:solidFill>
          <a:ln w="25400">
            <a:solidFill>
              <a:srgbClr val="58A6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423160" y="822960"/>
            <a:ext cx="2011680" cy="5029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423160" y="8229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6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1463040"/>
            <a:ext cx="640080" cy="64008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2514600" y="2240280"/>
            <a:ext cx="1828800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514600" y="22402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2468880" y="2651760"/>
            <a:ext cx="1920240" cy="3657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2468880" y="26517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/api/products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2514600" y="3127248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Lister tous les produits. Recherche temps réel + pagination par blocs de 4.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572000" y="822960"/>
            <a:ext cx="2011680" cy="4069080"/>
          </a:xfrm>
          <a:prstGeom prst="rect">
            <a:avLst/>
          </a:prstGeom>
          <a:solidFill>
            <a:srgbClr val="21262D"/>
          </a:solidFill>
          <a:ln w="25400">
            <a:solidFill>
              <a:srgbClr val="00C4B4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572000" y="822960"/>
            <a:ext cx="2011680" cy="502920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572000" y="8229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6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1463040"/>
            <a:ext cx="640080" cy="640080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4663440" y="2240280"/>
            <a:ext cx="1828800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4663440" y="22402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4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4617720" y="2651760"/>
            <a:ext cx="1920240" cy="3657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4617720" y="26517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/api/products/{id}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4663440" y="3127248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 les données d'un produit existant via son identifiant unique.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6720840" y="822960"/>
            <a:ext cx="2011680" cy="4069080"/>
          </a:xfrm>
          <a:prstGeom prst="rect">
            <a:avLst/>
          </a:prstGeom>
          <a:solidFill>
            <a:srgbClr val="21262D"/>
          </a:solidFill>
          <a:ln w="25400">
            <a:solidFill>
              <a:srgbClr val="F85149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6720840" y="822960"/>
            <a:ext cx="2011680" cy="50292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6720840" y="8229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600" dirty="0"/>
          </a:p>
        </p:txBody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0" y="1463040"/>
            <a:ext cx="640080" cy="640080"/>
          </a:xfrm>
          <a:prstGeom prst="rect">
            <a:avLst/>
          </a:prstGeom>
        </p:spPr>
      </p:pic>
      <p:sp>
        <p:nvSpPr>
          <p:cNvPr id="35" name="Shape 29"/>
          <p:cNvSpPr/>
          <p:nvPr/>
        </p:nvSpPr>
        <p:spPr>
          <a:xfrm>
            <a:off x="6812280" y="2240280"/>
            <a:ext cx="1828800" cy="34747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6812280" y="22402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endParaRPr lang="en-US" sz="1100" dirty="0"/>
          </a:p>
        </p:txBody>
      </p:sp>
      <p:sp>
        <p:nvSpPr>
          <p:cNvPr id="37" name="Shape 31"/>
          <p:cNvSpPr/>
          <p:nvPr/>
        </p:nvSpPr>
        <p:spPr>
          <a:xfrm>
            <a:off x="6766560" y="2651760"/>
            <a:ext cx="1920240" cy="3657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6766560" y="26517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/api/products/{id}</a:t>
            </a:r>
            <a:endParaRPr lang="en-US" sz="900" dirty="0"/>
          </a:p>
        </p:txBody>
      </p:sp>
      <p:sp>
        <p:nvSpPr>
          <p:cNvPr id="39" name="Text 33"/>
          <p:cNvSpPr/>
          <p:nvPr/>
        </p:nvSpPr>
        <p:spPr>
          <a:xfrm>
            <a:off x="6812280" y="3127248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Supprimer définitivement un produit de la base de données.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&amp; Lancement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502920"/>
          </a:xfrm>
          <a:prstGeom prst="rect">
            <a:avLst/>
          </a:prstGeom>
          <a:solidFill>
            <a:srgbClr val="21262D"/>
          </a:solidFill>
          <a:ln w="10160">
            <a:solidFill>
              <a:srgbClr val="8B949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Pré-requis : 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737360" y="822960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21+   |   Node.js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463040"/>
            <a:ext cx="3931920" cy="3383280"/>
          </a:xfrm>
          <a:prstGeom prst="rect">
            <a:avLst/>
          </a:prstGeom>
          <a:solidFill>
            <a:srgbClr val="21262D"/>
          </a:solidFill>
          <a:ln w="19050">
            <a:solidFill>
              <a:srgbClr val="6DB33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463040"/>
            <a:ext cx="3931920" cy="411480"/>
          </a:xfrm>
          <a:prstGeom prst="rect">
            <a:avLst/>
          </a:prstGeom>
          <a:solidFill>
            <a:srgbClr val="6DB33F"/>
          </a:solidFill>
          <a:ln w="12700">
            <a:solidFill>
              <a:srgbClr val="6DB3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4630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1 – Backend Java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9202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Ouvrir un terminal dans /backend-crud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606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Lancer Maven :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291840"/>
            <a:ext cx="3566160" cy="4572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2918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DB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.\mvnw.cmd spring-boot:run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9776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Attendre : "Started BackendCrudApplication"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434840" y="1463040"/>
            <a:ext cx="4389120" cy="3383280"/>
          </a:xfrm>
          <a:prstGeom prst="rect">
            <a:avLst/>
          </a:prstGeom>
          <a:solidFill>
            <a:srgbClr val="21262D"/>
          </a:solidFill>
          <a:ln w="19050">
            <a:solidFill>
              <a:srgbClr val="47848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34840" y="1463040"/>
            <a:ext cx="4389120" cy="411480"/>
          </a:xfrm>
          <a:prstGeom prst="rect">
            <a:avLst/>
          </a:prstGeom>
          <a:solidFill>
            <a:srgbClr val="47848F"/>
          </a:solidFill>
          <a:ln w="12700">
            <a:solidFill>
              <a:srgbClr val="4784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146304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2 – Frontend Electron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0" y="1920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Ouvrir un 2ème terminal dans /frontend-electron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0" y="25146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Installer les dépendances (une fois) :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0" y="3108960"/>
            <a:ext cx="4114800" cy="4114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7720" y="310896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4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0" y="37033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Lancer l'application :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0" y="4297680"/>
            <a:ext cx="4114800" cy="4114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17720" y="429768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4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start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ces Technologies 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114800" cy="2011680"/>
          </a:xfrm>
          <a:prstGeom prst="rect">
            <a:avLst/>
          </a:prstGeom>
          <a:solidFill>
            <a:srgbClr val="21262D"/>
          </a:solidFill>
          <a:ln w="19050">
            <a:solidFill>
              <a:srgbClr val="6DB33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941832"/>
            <a:ext cx="685800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94183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188720" y="1353312"/>
            <a:ext cx="30632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Java éprouvé en production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de dépendances automatique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en quelques lignes de code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Écosystème riche &amp; documentation abondante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663440" y="804672"/>
            <a:ext cx="4114800" cy="2011680"/>
          </a:xfrm>
          <a:prstGeom prst="rect">
            <a:avLst/>
          </a:prstGeom>
          <a:solidFill>
            <a:srgbClr val="21262D"/>
          </a:solidFill>
          <a:ln w="19050">
            <a:solidFill>
              <a:srgbClr val="47848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941832"/>
            <a:ext cx="685800" cy="685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577840" y="94183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78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5577840" y="1353312"/>
            <a:ext cx="30632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desktop multiplateforme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 les technologies web (HTML/CSS/JS)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aux APIs natives du système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 communauté &amp; exemples disponibles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274320" y="2907792"/>
            <a:ext cx="4114800" cy="2011680"/>
          </a:xfrm>
          <a:prstGeom prst="rect">
            <a:avLst/>
          </a:prstGeom>
          <a:solidFill>
            <a:srgbClr val="21262D"/>
          </a:solidFill>
          <a:ln w="19050">
            <a:solidFill>
              <a:srgbClr val="E76F00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044952"/>
            <a:ext cx="685800" cy="6858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88720" y="304495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 + JPA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188720" y="3456432"/>
            <a:ext cx="30632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Langage typé, robuste et performant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 simplifie les requêtes SQL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automatique des données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Portabilité grâce à la JVM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663440" y="2907792"/>
            <a:ext cx="4114800" cy="2011680"/>
          </a:xfrm>
          <a:prstGeom prst="rect">
            <a:avLst/>
          </a:prstGeom>
          <a:solidFill>
            <a:srgbClr val="21262D"/>
          </a:solidFill>
          <a:ln w="19050">
            <a:solidFill>
              <a:srgbClr val="58A6FF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3044952"/>
            <a:ext cx="685800" cy="6858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577840" y="304495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Database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5577840" y="3456432"/>
            <a:ext cx="30632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installation externe requise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fichier pour la persistance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d'administration web intégrée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Syntaxe SQL standard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DB33F"/>
          </a:solidFill>
          <a:ln w="12700">
            <a:solidFill>
              <a:srgbClr val="6DB3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Clés de l'Architecture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914400"/>
          </a:xfrm>
          <a:prstGeom prst="rect">
            <a:avLst/>
          </a:prstGeom>
          <a:solidFill>
            <a:srgbClr val="21262D"/>
          </a:solidFill>
          <a:ln w="19050">
            <a:solidFill>
              <a:srgbClr val="00C4B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91440" cy="914400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0584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914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Découplage Total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88720" y="128016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frontend et le backend sont complètement indépendants. On peut remplacer Electron par une app mobile sans toucher au code Java.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74320" y="1874520"/>
            <a:ext cx="8595360" cy="914400"/>
          </a:xfrm>
          <a:prstGeom prst="rect">
            <a:avLst/>
          </a:prstGeom>
          <a:solidFill>
            <a:srgbClr val="21262D"/>
          </a:solidFill>
          <a:ln w="19050">
            <a:solidFill>
              <a:srgbClr val="6DB33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4320" y="1874520"/>
            <a:ext cx="91440" cy="914400"/>
          </a:xfrm>
          <a:prstGeom prst="rect">
            <a:avLst/>
          </a:prstGeom>
          <a:solidFill>
            <a:srgbClr val="6DB33F"/>
          </a:solidFill>
          <a:ln w="12700">
            <a:solidFill>
              <a:srgbClr val="6DB33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5740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88720" y="1965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Rapidité de Développement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188720" y="233172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génère automatiquement les requêtes SQL via JPA. Electron permet de réutiliser les technologies web pour le bureau.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274320" y="2926080"/>
            <a:ext cx="8595360" cy="914400"/>
          </a:xfrm>
          <a:prstGeom prst="rect">
            <a:avLst/>
          </a:prstGeom>
          <a:solidFill>
            <a:srgbClr val="21262D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74320" y="2926080"/>
            <a:ext cx="91440" cy="9144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108960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88720" y="3017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des Données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188720" y="338328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backend empêche les prix et quantités négatifs. Le frontend affiche des messages d'erreur clairs à l'utilisateur.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274320" y="3977640"/>
            <a:ext cx="8595360" cy="914400"/>
          </a:xfrm>
          <a:prstGeom prst="rect">
            <a:avLst/>
          </a:prstGeom>
          <a:solidFill>
            <a:srgbClr val="21262D"/>
          </a:solidFill>
          <a:ln w="19050">
            <a:solidFill>
              <a:srgbClr val="F0883E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274320" y="3977640"/>
            <a:ext cx="91440" cy="91440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160520"/>
            <a:ext cx="548640" cy="5486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88720" y="4069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d'échange JSON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1188720" y="443484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JSON est un format universel léger. Il assure une communication claire entre les deux parties de l'application.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27432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566160" y="36576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+</a:t>
            </a:r>
            <a:endParaRPr lang="en-US" sz="3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40" y="274320"/>
            <a:ext cx="914400" cy="914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Manager Pro</a:t>
            </a:r>
            <a:endParaRPr lang="en-US" sz="3600" dirty="0"/>
          </a:p>
        </p:txBody>
      </p:sp>
      <p:sp>
        <p:nvSpPr>
          <p:cNvPr id="8" name="Text 4"/>
          <p:cNvSpPr/>
          <p:nvPr/>
        </p:nvSpPr>
        <p:spPr>
          <a:xfrm>
            <a:off x="457200" y="1920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architecture moderne, découplée et évolutive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297180" y="2514600"/>
            <a:ext cx="1600200" cy="411480"/>
          </a:xfrm>
          <a:prstGeom prst="roundRect">
            <a:avLst>
              <a:gd name="adj" fmla="val 11111"/>
            </a:avLst>
          </a:prstGeom>
          <a:solidFill>
            <a:srgbClr val="21262D"/>
          </a:solidFill>
          <a:ln w="19050">
            <a:solidFill>
              <a:srgbClr val="6DB33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97180" y="251460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Backend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2034540" y="2514600"/>
            <a:ext cx="1600200" cy="411480"/>
          </a:xfrm>
          <a:prstGeom prst="roundRect">
            <a:avLst>
              <a:gd name="adj" fmla="val 11111"/>
            </a:avLst>
          </a:prstGeom>
          <a:solidFill>
            <a:srgbClr val="21262D"/>
          </a:solidFill>
          <a:ln w="19050">
            <a:solidFill>
              <a:srgbClr val="47848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034540" y="251460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8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 Frontend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771900" y="2514600"/>
            <a:ext cx="1600200" cy="411480"/>
          </a:xfrm>
          <a:prstGeom prst="roundRect">
            <a:avLst>
              <a:gd name="adj" fmla="val 11111"/>
            </a:avLst>
          </a:prstGeom>
          <a:solidFill>
            <a:srgbClr val="21262D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771900" y="251460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Database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509260" y="2514600"/>
            <a:ext cx="1600200" cy="411480"/>
          </a:xfrm>
          <a:prstGeom prst="roundRect">
            <a:avLst>
              <a:gd name="adj" fmla="val 11111"/>
            </a:avLst>
          </a:prstGeom>
          <a:solidFill>
            <a:srgbClr val="21262D"/>
          </a:solidFill>
          <a:ln w="19050">
            <a:solidFill>
              <a:srgbClr val="00C4B4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509260" y="251460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+ JSON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7246620" y="2514600"/>
            <a:ext cx="1600200" cy="411480"/>
          </a:xfrm>
          <a:prstGeom prst="roundRect">
            <a:avLst>
              <a:gd name="adj" fmla="val 11111"/>
            </a:avLst>
          </a:prstGeom>
          <a:solidFill>
            <a:srgbClr val="21262D"/>
          </a:solidFill>
          <a:ln w="19050">
            <a:solidFill>
              <a:srgbClr val="F0883E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246620" y="251460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Complet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457200" y="3154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pour votre attention</a:t>
            </a:r>
            <a:endParaRPr lang="en-US" sz="2600" dirty="0"/>
          </a:p>
        </p:txBody>
      </p:sp>
      <p:sp>
        <p:nvSpPr>
          <p:cNvPr id="20" name="Text 16"/>
          <p:cNvSpPr/>
          <p:nvPr/>
        </p:nvSpPr>
        <p:spPr>
          <a:xfrm>
            <a:off x="457200" y="3703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questions 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Stock Manager Pro – Spring Boot &amp; Electron</dc:title>
  <dc:subject>PptxGenJS Presentation</dc:subject>
  <dc:creator>PptxGenJS</dc:creator>
  <cp:lastModifiedBy>PptxGenJS</cp:lastModifiedBy>
  <cp:revision>1</cp:revision>
  <dcterms:created xsi:type="dcterms:W3CDTF">2026-05-05T23:43:46Z</dcterms:created>
  <dcterms:modified xsi:type="dcterms:W3CDTF">2026-05-05T23:43:46Z</dcterms:modified>
</cp:coreProperties>
</file>